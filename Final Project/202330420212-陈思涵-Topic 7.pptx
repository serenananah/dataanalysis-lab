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306" r:id="rId5"/>
    <p:sldId id="308" r:id="rId6"/>
    <p:sldId id="296" r:id="rId7"/>
    <p:sldId id="38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64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06"/>
    <a:srgbClr val="1E3595"/>
    <a:srgbClr val="E8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608" y="192"/>
      </p:cViewPr>
      <p:guideLst>
        <p:guide orient="horz" pos="2168"/>
        <p:guide pos="6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27C22-C801-4E74-BEEF-E6539A14AE1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111FB-1F7D-4FAB-A4EF-5CB9150CE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111FB-1F7D-4FAB-A4EF-5CB9150CEB9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111FB-1F7D-4FAB-A4EF-5CB9150CEB9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111FB-1F7D-4FAB-A4EF-5CB9150CEB9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111FB-1F7D-4FAB-A4EF-5CB9150CEB9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111FB-1F7D-4FAB-A4EF-5CB9150CEB9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5E7500-6516-4FFC-9EF1-FE977AA2252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111FB-1F7D-4FAB-A4EF-5CB9150CEB9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305800" y="0"/>
            <a:ext cx="38862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3" name="Picture Placeholder 6"/>
          <p:cNvSpPr>
            <a:spLocks noGrp="1"/>
          </p:cNvSpPr>
          <p:nvPr>
            <p:ph type="pic" sz="quarter" idx="12"/>
          </p:nvPr>
        </p:nvSpPr>
        <p:spPr>
          <a:xfrm rot="549907">
            <a:off x="7025505" y="1984655"/>
            <a:ext cx="1321208" cy="2312307"/>
          </a:xfrm>
          <a:custGeom>
            <a:avLst/>
            <a:gdLst>
              <a:gd name="connsiteX0" fmla="*/ 0 w 1235810"/>
              <a:gd name="connsiteY0" fmla="*/ 0 h 2171712"/>
              <a:gd name="connsiteX1" fmla="*/ 1235810 w 1235810"/>
              <a:gd name="connsiteY1" fmla="*/ 0 h 2171712"/>
              <a:gd name="connsiteX2" fmla="*/ 1235810 w 1235810"/>
              <a:gd name="connsiteY2" fmla="*/ 2171712 h 2171712"/>
              <a:gd name="connsiteX3" fmla="*/ 0 w 1235810"/>
              <a:gd name="connsiteY3" fmla="*/ 2171712 h 2171712"/>
              <a:gd name="connsiteX4" fmla="*/ 0 w 1235810"/>
              <a:gd name="connsiteY4" fmla="*/ 0 h 2171712"/>
              <a:gd name="connsiteX0-1" fmla="*/ 0 w 1253859"/>
              <a:gd name="connsiteY0-2" fmla="*/ 7736 h 2179448"/>
              <a:gd name="connsiteX1-3" fmla="*/ 1253859 w 1253859"/>
              <a:gd name="connsiteY1-4" fmla="*/ 0 h 2179448"/>
              <a:gd name="connsiteX2-5" fmla="*/ 1235810 w 1253859"/>
              <a:gd name="connsiteY2-6" fmla="*/ 2179448 h 2179448"/>
              <a:gd name="connsiteX3-7" fmla="*/ 0 w 1253859"/>
              <a:gd name="connsiteY3-8" fmla="*/ 2179448 h 2179448"/>
              <a:gd name="connsiteX4-9" fmla="*/ 0 w 1253859"/>
              <a:gd name="connsiteY4-10" fmla="*/ 7736 h 2179448"/>
              <a:gd name="connsiteX0-11" fmla="*/ 0 w 1263262"/>
              <a:gd name="connsiteY0-12" fmla="*/ 9253 h 2180965"/>
              <a:gd name="connsiteX1-13" fmla="*/ 1263262 w 1263262"/>
              <a:gd name="connsiteY1-14" fmla="*/ 0 h 2180965"/>
              <a:gd name="connsiteX2-15" fmla="*/ 1235810 w 1263262"/>
              <a:gd name="connsiteY2-16" fmla="*/ 2180965 h 2180965"/>
              <a:gd name="connsiteX3-17" fmla="*/ 0 w 1263262"/>
              <a:gd name="connsiteY3-18" fmla="*/ 2180965 h 2180965"/>
              <a:gd name="connsiteX4-19" fmla="*/ 0 w 1263262"/>
              <a:gd name="connsiteY4-20" fmla="*/ 9253 h 2180965"/>
              <a:gd name="connsiteX0-21" fmla="*/ 0 w 1277368"/>
              <a:gd name="connsiteY0-22" fmla="*/ 11528 h 2183240"/>
              <a:gd name="connsiteX1-23" fmla="*/ 1277368 w 1277368"/>
              <a:gd name="connsiteY1-24" fmla="*/ 0 h 2183240"/>
              <a:gd name="connsiteX2-25" fmla="*/ 1235810 w 1277368"/>
              <a:gd name="connsiteY2-26" fmla="*/ 2183240 h 2183240"/>
              <a:gd name="connsiteX3-27" fmla="*/ 0 w 1277368"/>
              <a:gd name="connsiteY3-28" fmla="*/ 2183240 h 2183240"/>
              <a:gd name="connsiteX4-29" fmla="*/ 0 w 1277368"/>
              <a:gd name="connsiteY4-30" fmla="*/ 11528 h 2183240"/>
              <a:gd name="connsiteX0-31" fmla="*/ 0 w 1298150"/>
              <a:gd name="connsiteY0-32" fmla="*/ 11528 h 2240720"/>
              <a:gd name="connsiteX1-33" fmla="*/ 1277368 w 1298150"/>
              <a:gd name="connsiteY1-34" fmla="*/ 0 h 2240720"/>
              <a:gd name="connsiteX2-35" fmla="*/ 1298150 w 1298150"/>
              <a:gd name="connsiteY2-36" fmla="*/ 2240720 h 2240720"/>
              <a:gd name="connsiteX3-37" fmla="*/ 0 w 1298150"/>
              <a:gd name="connsiteY3-38" fmla="*/ 2183240 h 2240720"/>
              <a:gd name="connsiteX4-39" fmla="*/ 0 w 1298150"/>
              <a:gd name="connsiteY4-40" fmla="*/ 11528 h 2240720"/>
              <a:gd name="connsiteX0-41" fmla="*/ 0 w 1306495"/>
              <a:gd name="connsiteY0-42" fmla="*/ 11528 h 2292439"/>
              <a:gd name="connsiteX1-43" fmla="*/ 1277368 w 1306495"/>
              <a:gd name="connsiteY1-44" fmla="*/ 0 h 2292439"/>
              <a:gd name="connsiteX2-45" fmla="*/ 1306495 w 1306495"/>
              <a:gd name="connsiteY2-46" fmla="*/ 2292439 h 2292439"/>
              <a:gd name="connsiteX3-47" fmla="*/ 0 w 1306495"/>
              <a:gd name="connsiteY3-48" fmla="*/ 2183240 h 2292439"/>
              <a:gd name="connsiteX4-49" fmla="*/ 0 w 1306495"/>
              <a:gd name="connsiteY4-50" fmla="*/ 11528 h 2292439"/>
              <a:gd name="connsiteX0-51" fmla="*/ 12438 w 1318933"/>
              <a:gd name="connsiteY0-52" fmla="*/ 11528 h 2292439"/>
              <a:gd name="connsiteX1-53" fmla="*/ 1289806 w 1318933"/>
              <a:gd name="connsiteY1-54" fmla="*/ 0 h 2292439"/>
              <a:gd name="connsiteX2-55" fmla="*/ 1318933 w 1318933"/>
              <a:gd name="connsiteY2-56" fmla="*/ 2292439 h 2292439"/>
              <a:gd name="connsiteX3-57" fmla="*/ 0 w 1318933"/>
              <a:gd name="connsiteY3-58" fmla="*/ 2165951 h 2292439"/>
              <a:gd name="connsiteX4-59" fmla="*/ 12438 w 1318933"/>
              <a:gd name="connsiteY4-60" fmla="*/ 11528 h 2292439"/>
              <a:gd name="connsiteX0-61" fmla="*/ 24426 w 1318933"/>
              <a:gd name="connsiteY0-62" fmla="*/ 115724 h 2292439"/>
              <a:gd name="connsiteX1-63" fmla="*/ 1289806 w 1318933"/>
              <a:gd name="connsiteY1-64" fmla="*/ 0 h 2292439"/>
              <a:gd name="connsiteX2-65" fmla="*/ 1318933 w 1318933"/>
              <a:gd name="connsiteY2-66" fmla="*/ 2292439 h 2292439"/>
              <a:gd name="connsiteX3-67" fmla="*/ 0 w 1318933"/>
              <a:gd name="connsiteY3-68" fmla="*/ 2165951 h 2292439"/>
              <a:gd name="connsiteX4-69" fmla="*/ 24426 w 1318933"/>
              <a:gd name="connsiteY4-70" fmla="*/ 115724 h 2292439"/>
              <a:gd name="connsiteX0-71" fmla="*/ 27911 w 1318933"/>
              <a:gd name="connsiteY0-72" fmla="*/ 47624 h 2292439"/>
              <a:gd name="connsiteX1-73" fmla="*/ 1289806 w 1318933"/>
              <a:gd name="connsiteY1-74" fmla="*/ 0 h 2292439"/>
              <a:gd name="connsiteX2-75" fmla="*/ 1318933 w 1318933"/>
              <a:gd name="connsiteY2-76" fmla="*/ 2292439 h 2292439"/>
              <a:gd name="connsiteX3-77" fmla="*/ 0 w 1318933"/>
              <a:gd name="connsiteY3-78" fmla="*/ 2165951 h 2292439"/>
              <a:gd name="connsiteX4-79" fmla="*/ 27911 w 1318933"/>
              <a:gd name="connsiteY4-80" fmla="*/ 47624 h 2292439"/>
              <a:gd name="connsiteX0-81" fmla="*/ 24877 w 1318933"/>
              <a:gd name="connsiteY0-82" fmla="*/ 28817 h 2292439"/>
              <a:gd name="connsiteX1-83" fmla="*/ 1289806 w 1318933"/>
              <a:gd name="connsiteY1-84" fmla="*/ 0 h 2292439"/>
              <a:gd name="connsiteX2-85" fmla="*/ 1318933 w 1318933"/>
              <a:gd name="connsiteY2-86" fmla="*/ 2292439 h 2292439"/>
              <a:gd name="connsiteX3-87" fmla="*/ 0 w 1318933"/>
              <a:gd name="connsiteY3-88" fmla="*/ 2165951 h 2292439"/>
              <a:gd name="connsiteX4-89" fmla="*/ 24877 w 1318933"/>
              <a:gd name="connsiteY4-90" fmla="*/ 28817 h 2292439"/>
              <a:gd name="connsiteX0-91" fmla="*/ 0 w 1321208"/>
              <a:gd name="connsiteY0-92" fmla="*/ 0 h 2312307"/>
              <a:gd name="connsiteX1-93" fmla="*/ 1292081 w 1321208"/>
              <a:gd name="connsiteY1-94" fmla="*/ 19868 h 2312307"/>
              <a:gd name="connsiteX2-95" fmla="*/ 1321208 w 1321208"/>
              <a:gd name="connsiteY2-96" fmla="*/ 2312307 h 2312307"/>
              <a:gd name="connsiteX3-97" fmla="*/ 2275 w 1321208"/>
              <a:gd name="connsiteY3-98" fmla="*/ 2185819 h 2312307"/>
              <a:gd name="connsiteX4-99" fmla="*/ 0 w 1321208"/>
              <a:gd name="connsiteY4-100" fmla="*/ 0 h 23123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21208" h="2312307">
                <a:moveTo>
                  <a:pt x="0" y="0"/>
                </a:moveTo>
                <a:lnTo>
                  <a:pt x="1292081" y="19868"/>
                </a:lnTo>
                <a:lnTo>
                  <a:pt x="1321208" y="2312307"/>
                </a:lnTo>
                <a:lnTo>
                  <a:pt x="2275" y="2185819"/>
                </a:lnTo>
                <a:cubicBezTo>
                  <a:pt x="1517" y="1457213"/>
                  <a:pt x="758" y="728606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scene3d>
            <a:camera prst="isometricOffAxis1Right"/>
            <a:lightRig rig="threePt" dir="t"/>
          </a:scene3d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19D27-C416-4D37-8E7B-A2B4C38B5F6C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34084-C508-49DA-BFC6-A2075EB742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image" Target="../media/image3.jpeg"/><Relationship Id="rId3" Type="http://schemas.openxmlformats.org/officeDocument/2006/relationships/tags" Target="../tags/tag3.xml"/><Relationship Id="rId7" Type="http://schemas.openxmlformats.org/officeDocument/2006/relationships/audio" Target="../media/media1.mp3"/><Relationship Id="rId12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microsoft.com/office/2007/relationships/media" Target="../media/media1.mp3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4.png"/><Relationship Id="rId5" Type="http://schemas.openxmlformats.org/officeDocument/2006/relationships/tags" Target="../tags/tag11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10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圆角矩形 1"/>
          <p:cNvSpPr/>
          <p:nvPr>
            <p:custDataLst>
              <p:tags r:id="rId1"/>
            </p:custDataLst>
          </p:nvPr>
        </p:nvSpPr>
        <p:spPr>
          <a:xfrm>
            <a:off x="202698" y="2152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A_图片 3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0" t="18139"/>
          <a:stretch>
            <a:fillRect/>
          </a:stretch>
        </p:blipFill>
        <p:spPr>
          <a:xfrm>
            <a:off x="6601962" y="1251480"/>
            <a:ext cx="6380420" cy="6014930"/>
          </a:xfrm>
          <a:prstGeom prst="rect">
            <a:avLst/>
          </a:prstGeom>
        </p:spPr>
      </p:pic>
      <p:sp>
        <p:nvSpPr>
          <p:cNvPr id="11" name="PA_圆角矩形 10"/>
          <p:cNvSpPr/>
          <p:nvPr>
            <p:custDataLst>
              <p:tags r:id="rId3"/>
            </p:custDataLst>
          </p:nvPr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PA_TextPlaceholder 4"/>
          <p:cNvSpPr txBox="1"/>
          <p:nvPr>
            <p:custDataLst>
              <p:tags r:id="rId4"/>
            </p:custDataLst>
          </p:nvPr>
        </p:nvSpPr>
        <p:spPr>
          <a:xfrm flipH="1">
            <a:off x="1050290" y="4258945"/>
            <a:ext cx="5929630" cy="4864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Final Project – Data Analysis and Modeling</a:t>
            </a:r>
          </a:p>
        </p:txBody>
      </p:sp>
      <p:sp>
        <p:nvSpPr>
          <p:cNvPr id="71" name="PA_矩形 17"/>
          <p:cNvSpPr/>
          <p:nvPr>
            <p:custDataLst>
              <p:tags r:id="rId5"/>
            </p:custDataLst>
          </p:nvPr>
        </p:nvSpPr>
        <p:spPr>
          <a:xfrm>
            <a:off x="531217" y="1587540"/>
            <a:ext cx="696777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sz="44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Graduate Admissions: Predictive Modeling </a:t>
            </a:r>
            <a:r>
              <a:rPr lang="en-US" sz="44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&amp;</a:t>
            </a:r>
            <a:r>
              <a:rPr sz="44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 Statistical Analysis</a:t>
            </a:r>
          </a:p>
        </p:txBody>
      </p:sp>
      <p:pic>
        <p:nvPicPr>
          <p:cNvPr id="3" name="Anna of the North - ILYAF 1996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2341482" y="4136061"/>
            <a:ext cx="609600" cy="609600"/>
          </a:xfrm>
          <a:prstGeom prst="rect">
            <a:avLst/>
          </a:prstGeom>
        </p:spPr>
      </p:pic>
      <p:sp>
        <p:nvSpPr>
          <p:cNvPr id="5" name="PA_TextPlaceholder 4"/>
          <p:cNvSpPr txBox="1"/>
          <p:nvPr>
            <p:custDataLst>
              <p:tags r:id="rId8"/>
            </p:custDataLst>
          </p:nvPr>
        </p:nvSpPr>
        <p:spPr>
          <a:xfrm flipH="1">
            <a:off x="1720850" y="5033010"/>
            <a:ext cx="3362960" cy="4864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Chen Sihan – 2023</a:t>
            </a:r>
            <a:r>
              <a:rPr kumimoji="0" lang="en-US" altLang="id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30420212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8" y="215231"/>
            <a:ext cx="5036448" cy="12770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0" grpId="0"/>
      <p:bldP spid="71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221113" y="2279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PA_库_直接连接符 27"/>
          <p:cNvCxnSpPr/>
          <p:nvPr>
            <p:custDataLst>
              <p:tags r:id="rId1"/>
            </p:custDataLst>
          </p:nvPr>
        </p:nvCxnSpPr>
        <p:spPr>
          <a:xfrm>
            <a:off x="936271" y="1999255"/>
            <a:ext cx="0" cy="2567967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_库_椭圆 31"/>
          <p:cNvSpPr/>
          <p:nvPr>
            <p:custDataLst>
              <p:tags r:id="rId2"/>
            </p:custDataLst>
          </p:nvPr>
        </p:nvSpPr>
        <p:spPr>
          <a:xfrm>
            <a:off x="821398" y="1919394"/>
            <a:ext cx="235527" cy="2355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27000" dist="1016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" panose="020B0502040204020203" pitchFamily="34" charset="0"/>
                <a:ea typeface="Roboto Medium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7" name="PA_库_椭圆 35"/>
          <p:cNvSpPr/>
          <p:nvPr>
            <p:custDataLst>
              <p:tags r:id="rId3"/>
            </p:custDataLst>
          </p:nvPr>
        </p:nvSpPr>
        <p:spPr>
          <a:xfrm>
            <a:off x="817588" y="2912143"/>
            <a:ext cx="235527" cy="23552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1016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" panose="020B0502040204020203" pitchFamily="34" charset="0"/>
                <a:ea typeface="Roboto Medium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PA_库_椭圆 39"/>
          <p:cNvSpPr/>
          <p:nvPr>
            <p:custDataLst>
              <p:tags r:id="rId4"/>
            </p:custDataLst>
          </p:nvPr>
        </p:nvSpPr>
        <p:spPr>
          <a:xfrm>
            <a:off x="821398" y="3769962"/>
            <a:ext cx="235527" cy="235527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27000" dist="1016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" panose="020B0502040204020203" pitchFamily="34" charset="0"/>
                <a:ea typeface="Roboto Medium" charset="0"/>
                <a:cs typeface="Segoe UI" panose="020B0502040204020203" pitchFamily="34" charset="0"/>
              </a:rPr>
              <a:t>3</a:t>
            </a:r>
          </a:p>
        </p:txBody>
      </p:sp>
      <p:grpSp>
        <p:nvGrpSpPr>
          <p:cNvPr id="9" name="PA_库_组合 42"/>
          <p:cNvGrpSpPr/>
          <p:nvPr>
            <p:custDataLst>
              <p:tags r:id="rId5"/>
            </p:custDataLst>
          </p:nvPr>
        </p:nvGrpSpPr>
        <p:grpSpPr>
          <a:xfrm>
            <a:off x="1383058" y="1573203"/>
            <a:ext cx="4077335" cy="673735"/>
            <a:chOff x="7434942" y="1984160"/>
            <a:chExt cx="4077335" cy="673735"/>
          </a:xfrm>
        </p:grpSpPr>
        <p:sp>
          <p:nvSpPr>
            <p:cNvPr id="10" name="Text Placeholder 4"/>
            <p:cNvSpPr txBox="1"/>
            <p:nvPr/>
          </p:nvSpPr>
          <p:spPr>
            <a:xfrm>
              <a:off x="7434942" y="2349285"/>
              <a:ext cx="4077335" cy="30861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4000"/>
                </a:lnSpc>
                <a:buNone/>
                <a:defRPr/>
              </a:pPr>
              <a:r>
                <a:rPr lang="id-ID" sz="1200" b="1" dirty="0">
                  <a:solidFill>
                    <a:schemeClr val="bg1">
                      <a:lumMod val="65000"/>
                    </a:schemeClr>
                  </a:solidFill>
                  <a:latin typeface="+mj-lt"/>
                  <a:cs typeface="Calibri"/>
                </a:rPr>
                <a:t>What are the correlations between different academic and background variables?</a:t>
              </a:r>
            </a:p>
          </p:txBody>
        </p:sp>
        <p:sp>
          <p:nvSpPr>
            <p:cNvPr id="11" name="Rectangle 41"/>
            <p:cNvSpPr/>
            <p:nvPr/>
          </p:nvSpPr>
          <p:spPr>
            <a:xfrm>
              <a:off x="7434942" y="1984160"/>
              <a:ext cx="110236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id-ID" sz="1400" b="1" dirty="0">
                  <a:solidFill>
                    <a:schemeClr val="accent1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Question</a:t>
              </a:r>
              <a:r>
                <a:rPr lang="id-ID" sz="1400" b="1" dirty="0">
                  <a:solidFill>
                    <a:schemeClr val="accent1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 1</a:t>
              </a:r>
            </a:p>
          </p:txBody>
        </p:sp>
      </p:grpSp>
      <p:grpSp>
        <p:nvGrpSpPr>
          <p:cNvPr id="12" name="PA_库_组合 43"/>
          <p:cNvGrpSpPr/>
          <p:nvPr>
            <p:custDataLst>
              <p:tags r:id="rId6"/>
            </p:custDataLst>
          </p:nvPr>
        </p:nvGrpSpPr>
        <p:grpSpPr>
          <a:xfrm>
            <a:off x="1383058" y="2585596"/>
            <a:ext cx="3704590" cy="695960"/>
            <a:chOff x="7434942" y="1984160"/>
            <a:chExt cx="3704590" cy="695960"/>
          </a:xfrm>
        </p:grpSpPr>
        <p:sp>
          <p:nvSpPr>
            <p:cNvPr id="13" name="Text Placeholder 4"/>
            <p:cNvSpPr txBox="1"/>
            <p:nvPr/>
          </p:nvSpPr>
          <p:spPr>
            <a:xfrm>
              <a:off x="7434942" y="2349285"/>
              <a:ext cx="3704590" cy="33083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4000"/>
                </a:lnSpc>
                <a:buNone/>
                <a:defRPr/>
              </a:pPr>
              <a:r>
                <a:rPr lang="id-ID" sz="1200" b="1" dirty="0">
                  <a:solidFill>
                    <a:schemeClr val="bg1">
                      <a:lumMod val="65000"/>
                    </a:schemeClr>
                  </a:solidFill>
                  <a:latin typeface="+mj-lt"/>
                  <a:cs typeface="Calibri"/>
                </a:rPr>
                <a:t>Can we predict admission chances accurately based on past data?</a:t>
              </a:r>
            </a:p>
          </p:txBody>
        </p:sp>
        <p:sp>
          <p:nvSpPr>
            <p:cNvPr id="14" name="Rectangle 45"/>
            <p:cNvSpPr/>
            <p:nvPr/>
          </p:nvSpPr>
          <p:spPr>
            <a:xfrm>
              <a:off x="7434942" y="1984160"/>
              <a:ext cx="110236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id-ID" sz="1400" b="1" dirty="0">
                  <a:solidFill>
                    <a:schemeClr val="accent2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Question</a:t>
              </a:r>
              <a:r>
                <a:rPr lang="id-ID" sz="1400" b="1" dirty="0">
                  <a:solidFill>
                    <a:schemeClr val="accent2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 2</a:t>
              </a:r>
            </a:p>
          </p:txBody>
        </p:sp>
      </p:grpSp>
      <p:grpSp>
        <p:nvGrpSpPr>
          <p:cNvPr id="15" name="PA_库_组合 46"/>
          <p:cNvGrpSpPr/>
          <p:nvPr>
            <p:custDataLst>
              <p:tags r:id="rId7"/>
            </p:custDataLst>
          </p:nvPr>
        </p:nvGrpSpPr>
        <p:grpSpPr>
          <a:xfrm>
            <a:off x="1383058" y="3450670"/>
            <a:ext cx="4510405" cy="715645"/>
            <a:chOff x="7434942" y="1984160"/>
            <a:chExt cx="4510405" cy="715645"/>
          </a:xfrm>
        </p:grpSpPr>
        <p:sp>
          <p:nvSpPr>
            <p:cNvPr id="16" name="Text Placeholder 4"/>
            <p:cNvSpPr txBox="1"/>
            <p:nvPr/>
          </p:nvSpPr>
          <p:spPr>
            <a:xfrm>
              <a:off x="7434942" y="2349285"/>
              <a:ext cx="4510405" cy="35052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4000"/>
                </a:lnSpc>
                <a:buNone/>
                <a:defRPr/>
              </a:pPr>
              <a:r>
                <a:rPr lang="id-ID" sz="1200" b="1" dirty="0">
                  <a:solidFill>
                    <a:schemeClr val="bg1">
                      <a:lumMod val="65000"/>
                    </a:schemeClr>
                  </a:solidFill>
                  <a:latin typeface="+mj-lt"/>
                  <a:cs typeface="Calibri"/>
                </a:rPr>
                <a:t>Which variables contribute most to the prediction?</a:t>
              </a:r>
            </a:p>
            <a:p>
              <a:pPr marL="0" indent="0">
                <a:lnSpc>
                  <a:spcPct val="114000"/>
                </a:lnSpc>
                <a:buNone/>
                <a:defRPr/>
              </a:pPr>
              <a:endParaRPr lang="id-ID" sz="1200" b="1" dirty="0">
                <a:solidFill>
                  <a:schemeClr val="bg1">
                    <a:lumMod val="65000"/>
                  </a:schemeClr>
                </a:solidFill>
                <a:latin typeface="+mj-lt"/>
                <a:cs typeface="Calibri"/>
              </a:endParaRPr>
            </a:p>
          </p:txBody>
        </p:sp>
        <p:sp>
          <p:nvSpPr>
            <p:cNvPr id="17" name="Rectangle 48"/>
            <p:cNvSpPr/>
            <p:nvPr/>
          </p:nvSpPr>
          <p:spPr>
            <a:xfrm>
              <a:off x="7434942" y="1984160"/>
              <a:ext cx="1151890" cy="3067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id-ID" sz="1400" b="1" dirty="0">
                  <a:solidFill>
                    <a:schemeClr val="accent3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 </a:t>
              </a:r>
              <a:r>
                <a:rPr lang="en-US" altLang="id-ID" sz="1400" b="1" dirty="0">
                  <a:solidFill>
                    <a:schemeClr val="accent3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Question </a:t>
              </a:r>
              <a:r>
                <a:rPr lang="id-ID" sz="1400" b="1" dirty="0">
                  <a:solidFill>
                    <a:schemeClr val="accent3"/>
                  </a:solidFill>
                  <a:latin typeface="Nexa Bold" panose="02000000000000000000" pitchFamily="50" charset="0"/>
                  <a:cs typeface="Segoe UI Light" panose="020B0502040204020203" pitchFamily="34" charset="0"/>
                </a:rPr>
                <a:t>3</a:t>
              </a:r>
            </a:p>
          </p:txBody>
        </p:sp>
      </p:grpSp>
      <p:sp>
        <p:nvSpPr>
          <p:cNvPr id="18" name="Title 66"/>
          <p:cNvSpPr txBox="1"/>
          <p:nvPr/>
        </p:nvSpPr>
        <p:spPr>
          <a:xfrm>
            <a:off x="2239010" y="442595"/>
            <a:ext cx="7966075" cy="7156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accent2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+mn-cs"/>
              </a:rPr>
              <a:t>Motivation &amp; Research Questions</a:t>
            </a:r>
          </a:p>
        </p:txBody>
      </p:sp>
      <p:sp>
        <p:nvSpPr>
          <p:cNvPr id="19" name="PA_库_椭圆 35"/>
          <p:cNvSpPr/>
          <p:nvPr>
            <p:custDataLst>
              <p:tags r:id="rId8"/>
            </p:custDataLst>
          </p:nvPr>
        </p:nvSpPr>
        <p:spPr>
          <a:xfrm>
            <a:off x="821398" y="4520598"/>
            <a:ext cx="235527" cy="23552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27000" dist="1016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Segoe UI" panose="020B0502040204020203" pitchFamily="34" charset="0"/>
                <a:ea typeface="Roboto Medium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20" name="Rectangle 45"/>
          <p:cNvSpPr/>
          <p:nvPr/>
        </p:nvSpPr>
        <p:spPr>
          <a:xfrm>
            <a:off x="1432588" y="4221356"/>
            <a:ext cx="110236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id-ID" sz="1400" b="1" dirty="0">
                <a:solidFill>
                  <a:schemeClr val="accent2"/>
                </a:solidFill>
                <a:latin typeface="Nexa Bold" panose="02000000000000000000" pitchFamily="50" charset="0"/>
                <a:cs typeface="Segoe UI Light" panose="020B0502040204020203" pitchFamily="34" charset="0"/>
              </a:rPr>
              <a:t>Question</a:t>
            </a:r>
            <a:r>
              <a:rPr lang="id-ID" sz="1400" b="1" dirty="0">
                <a:solidFill>
                  <a:schemeClr val="accent2"/>
                </a:solidFill>
                <a:latin typeface="Nexa Bold" panose="02000000000000000000" pitchFamily="50" charset="0"/>
                <a:cs typeface="Segoe UI Light" panose="020B0502040204020203" pitchFamily="34" charset="0"/>
              </a:rPr>
              <a:t> </a:t>
            </a:r>
            <a:r>
              <a:rPr lang="en-US" altLang="id-ID" sz="1400" b="1" dirty="0">
                <a:solidFill>
                  <a:schemeClr val="accent2"/>
                </a:solidFill>
                <a:latin typeface="Nexa Bold" panose="02000000000000000000" pitchFamily="50" charset="0"/>
                <a:cs typeface="Segoe UI Light" panose="020B0502040204020203" pitchFamily="34" charset="0"/>
              </a:rPr>
              <a:t>4</a:t>
            </a:r>
          </a:p>
        </p:txBody>
      </p:sp>
      <p:sp>
        <p:nvSpPr>
          <p:cNvPr id="21" name="Text Placeholder 4"/>
          <p:cNvSpPr txBox="1"/>
          <p:nvPr/>
        </p:nvSpPr>
        <p:spPr>
          <a:xfrm>
            <a:off x="1432560" y="4583430"/>
            <a:ext cx="3282950" cy="3308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id-ID" sz="1200" b="1" dirty="0">
                <a:solidFill>
                  <a:schemeClr val="bg1">
                    <a:lumMod val="65000"/>
                  </a:schemeClr>
                </a:solidFill>
                <a:latin typeface="+mj-lt"/>
                <a:cs typeface="Calibri"/>
              </a:rPr>
              <a:t>Can we predict admission chances accurately based on past data?</a:t>
            </a:r>
          </a:p>
        </p:txBody>
      </p:sp>
      <p:pic>
        <p:nvPicPr>
          <p:cNvPr id="23" name="图片 22" descr="截屏2025-06-17 14.00.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6755" y="1061720"/>
            <a:ext cx="2269490" cy="2731135"/>
          </a:xfrm>
          <a:prstGeom prst="rect">
            <a:avLst/>
          </a:prstGeom>
        </p:spPr>
      </p:pic>
      <p:pic>
        <p:nvPicPr>
          <p:cNvPr id="24" name="图片 23" descr="截屏2025-06-17 14.01.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3835" y="1797050"/>
            <a:ext cx="2269490" cy="2786380"/>
          </a:xfrm>
          <a:prstGeom prst="rect">
            <a:avLst/>
          </a:prstGeom>
        </p:spPr>
      </p:pic>
      <p:pic>
        <p:nvPicPr>
          <p:cNvPr id="25" name="图片 24" descr="截屏2025-06-17 14.01.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915" y="3815715"/>
            <a:ext cx="2468245" cy="2568575"/>
          </a:xfrm>
          <a:prstGeom prst="rect">
            <a:avLst/>
          </a:prstGeom>
        </p:spPr>
      </p:pic>
      <p:pic>
        <p:nvPicPr>
          <p:cNvPr id="26" name="图片 25" descr="截屏2025-06-17 14.02.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606" y="1372904"/>
            <a:ext cx="5257800" cy="429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bldLvl="0" animBg="1" autoUpdateAnimBg="0"/>
      <p:bldP spid="8" grpId="0" bldLvl="0" animBg="1" autoUpdateAnimBg="0"/>
      <p:bldP spid="19" grpId="0" bldLvl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202698" y="2152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PA_库_Rectangle: Rounded Corners 7"/>
          <p:cNvSpPr/>
          <p:nvPr>
            <p:custDataLst>
              <p:tags r:id="rId1"/>
            </p:custDataLst>
          </p:nvPr>
        </p:nvSpPr>
        <p:spPr>
          <a:xfrm>
            <a:off x="1040765" y="290830"/>
            <a:ext cx="360045" cy="76200"/>
          </a:xfrm>
          <a:prstGeom prst="roundRect">
            <a:avLst>
              <a:gd name="adj" fmla="val 1232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d-ID">
              <a:gradFill>
                <a:gsLst>
                  <a:gs pos="2000">
                    <a:schemeClr val="accent1"/>
                  </a:gs>
                  <a:gs pos="100000">
                    <a:schemeClr val="accent5"/>
                  </a:gs>
                </a:gsLst>
                <a:lin ang="0" scaled="0"/>
              </a:gradFill>
            </a:endParaRPr>
          </a:p>
        </p:txBody>
      </p:sp>
      <p:sp>
        <p:nvSpPr>
          <p:cNvPr id="17" name="PA_库_文本框 41"/>
          <p:cNvSpPr txBox="1"/>
          <p:nvPr>
            <p:custDataLst>
              <p:tags r:id="rId2"/>
            </p:custDataLst>
          </p:nvPr>
        </p:nvSpPr>
        <p:spPr>
          <a:xfrm>
            <a:off x="952499" y="501015"/>
            <a:ext cx="9557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2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</a:rPr>
              <a:t>Data Overview &amp; EDA Highlights</a:t>
            </a:r>
          </a:p>
        </p:txBody>
      </p:sp>
      <p:pic>
        <p:nvPicPr>
          <p:cNvPr id="5" name="图片 4" descr="截屏2025-06-17 13.55.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225" y="2826385"/>
            <a:ext cx="5071745" cy="3790950"/>
          </a:xfrm>
          <a:prstGeom prst="rect">
            <a:avLst/>
          </a:prstGeom>
        </p:spPr>
      </p:pic>
      <p:pic>
        <p:nvPicPr>
          <p:cNvPr id="6" name="图片 5" descr="截屏2025-06-17 13.56.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415" y="3119755"/>
            <a:ext cx="6358255" cy="2611120"/>
          </a:xfrm>
          <a:prstGeom prst="rect">
            <a:avLst/>
          </a:prstGeom>
        </p:spPr>
      </p:pic>
      <p:pic>
        <p:nvPicPr>
          <p:cNvPr id="7" name="图片 6" descr="截屏2025-06-17 13.57.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10" y="1341755"/>
            <a:ext cx="6822440" cy="1350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 autoUpdateAnimBg="0"/>
      <p:bldP spid="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202698" y="2152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ectangle 15"/>
          <p:cNvSpPr/>
          <p:nvPr/>
        </p:nvSpPr>
        <p:spPr>
          <a:xfrm>
            <a:off x="815340" y="4384040"/>
            <a:ext cx="7036435" cy="2155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The correlation heatmap confirms that CGPA (r ≈ 0.87), GRE (r ≈ 0.80), and TOEFL (r ≈ 0.79) are most strongly correlated with admission chances.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Other variables like SOP and LOR show moderate correlation, while research experience is positively correlated, though less strongly.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The heatmap also indicates that multicollinearity between features is mild, allowing reliable regression modeling.</a:t>
            </a:r>
          </a:p>
        </p:txBody>
      </p:sp>
      <p:sp>
        <p:nvSpPr>
          <p:cNvPr id="68" name="Rectangle 16"/>
          <p:cNvSpPr/>
          <p:nvPr/>
        </p:nvSpPr>
        <p:spPr>
          <a:xfrm>
            <a:off x="912561" y="427409"/>
            <a:ext cx="103668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sz="36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Exploratory Analysis &amp; Correlation </a:t>
            </a:r>
          </a:p>
        </p:txBody>
      </p:sp>
      <p:pic>
        <p:nvPicPr>
          <p:cNvPr id="2" name="图片 1" descr="截屏2025-06-17 14.07.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345" y="2552065"/>
            <a:ext cx="4119880" cy="3987800"/>
          </a:xfrm>
          <a:prstGeom prst="rect">
            <a:avLst/>
          </a:prstGeom>
        </p:spPr>
      </p:pic>
      <p:pic>
        <p:nvPicPr>
          <p:cNvPr id="5" name="图片 4" descr="截屏2025-06-17 14.07.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5" y="1254125"/>
            <a:ext cx="4241165" cy="2908935"/>
          </a:xfrm>
          <a:prstGeom prst="rect">
            <a:avLst/>
          </a:prstGeom>
        </p:spPr>
      </p:pic>
      <p:sp>
        <p:nvSpPr>
          <p:cNvPr id="6" name="Rectangle 15"/>
          <p:cNvSpPr/>
          <p:nvPr/>
        </p:nvSpPr>
        <p:spPr>
          <a:xfrm>
            <a:off x="4956175" y="1347470"/>
            <a:ext cx="7130415" cy="186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These scatter plots show strong positive linear relationships between CGPA, GRE scores, and TOEFL scores with the chance</a:t>
            </a:r>
            <a:r>
              <a:rPr kumimoji="0" lang="en-US" alt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</a:t>
            </a: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of admission.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Among them, CGPA has the tightest clustering and highest correlation, indicating it is the most reliable predictor.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GRE and TOEFL also display upward trends, but with slightly more dispersion.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202698" y="2152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: Rounded Corners 2"/>
          <p:cNvSpPr/>
          <p:nvPr/>
        </p:nvSpPr>
        <p:spPr>
          <a:xfrm>
            <a:off x="5723255" y="1293495"/>
            <a:ext cx="5919470" cy="483362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>
            <a:noFill/>
          </a:ln>
          <a:effectLst>
            <a:outerShdw blurRad="381000" dist="63500" dir="5400000" algn="t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1E35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1435261" y="572135"/>
            <a:ext cx="891142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E3595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Segoe UI" panose="020B0502040204020203" pitchFamily="34" charset="0"/>
              </a:rPr>
              <a:t>Research Impact &amp; Statistical Testing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8515985" y="1725930"/>
            <a:ext cx="3119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3595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Segoe UI Light" panose="020B0502040204020203" pitchFamily="34" charset="0"/>
              </a:rPr>
              <a:t>Does research experience impact admission?</a:t>
            </a:r>
          </a:p>
        </p:txBody>
      </p:sp>
      <p:sp>
        <p:nvSpPr>
          <p:cNvPr id="10" name="Freeform: Shape 13"/>
          <p:cNvSpPr/>
          <p:nvPr/>
        </p:nvSpPr>
        <p:spPr>
          <a:xfrm>
            <a:off x="4813760" y="3831310"/>
            <a:ext cx="620987" cy="540488"/>
          </a:xfrm>
          <a:custGeom>
            <a:avLst/>
            <a:gdLst>
              <a:gd name="connsiteX0" fmla="*/ 395021 w 395021"/>
              <a:gd name="connsiteY0" fmla="*/ 0 h 343815"/>
              <a:gd name="connsiteX1" fmla="*/ 395021 w 395021"/>
              <a:gd name="connsiteY1" fmla="*/ 70714 h 343815"/>
              <a:gd name="connsiteX2" fmla="*/ 320650 w 395021"/>
              <a:gd name="connsiteY2" fmla="*/ 179223 h 343815"/>
              <a:gd name="connsiteX3" fmla="*/ 395021 w 395021"/>
              <a:gd name="connsiteY3" fmla="*/ 179223 h 343815"/>
              <a:gd name="connsiteX4" fmla="*/ 395021 w 395021"/>
              <a:gd name="connsiteY4" fmla="*/ 343815 h 343815"/>
              <a:gd name="connsiteX5" fmla="*/ 242621 w 395021"/>
              <a:gd name="connsiteY5" fmla="*/ 343815 h 343815"/>
              <a:gd name="connsiteX6" fmla="*/ 242621 w 395021"/>
              <a:gd name="connsiteY6" fmla="*/ 179223 h 343815"/>
              <a:gd name="connsiteX7" fmla="*/ 287731 w 395021"/>
              <a:gd name="connsiteY7" fmla="*/ 63399 h 343815"/>
              <a:gd name="connsiteX8" fmla="*/ 395021 w 395021"/>
              <a:gd name="connsiteY8" fmla="*/ 0 h 343815"/>
              <a:gd name="connsiteX9" fmla="*/ 152400 w 395021"/>
              <a:gd name="connsiteY9" fmla="*/ 0 h 343815"/>
              <a:gd name="connsiteX10" fmla="*/ 152400 w 395021"/>
              <a:gd name="connsiteY10" fmla="*/ 70714 h 343815"/>
              <a:gd name="connsiteX11" fmla="*/ 78029 w 395021"/>
              <a:gd name="connsiteY11" fmla="*/ 179223 h 343815"/>
              <a:gd name="connsiteX12" fmla="*/ 152400 w 395021"/>
              <a:gd name="connsiteY12" fmla="*/ 179223 h 343815"/>
              <a:gd name="connsiteX13" fmla="*/ 152400 w 395021"/>
              <a:gd name="connsiteY13" fmla="*/ 343815 h 343815"/>
              <a:gd name="connsiteX14" fmla="*/ 0 w 395021"/>
              <a:gd name="connsiteY14" fmla="*/ 343815 h 343815"/>
              <a:gd name="connsiteX15" fmla="*/ 0 w 395021"/>
              <a:gd name="connsiteY15" fmla="*/ 179223 h 343815"/>
              <a:gd name="connsiteX16" fmla="*/ 45111 w 395021"/>
              <a:gd name="connsiteY16" fmla="*/ 63399 h 343815"/>
              <a:gd name="connsiteX17" fmla="*/ 152400 w 395021"/>
              <a:gd name="connsiteY17" fmla="*/ 0 h 34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5021" h="343815">
                <a:moveTo>
                  <a:pt x="395021" y="0"/>
                </a:moveTo>
                <a:lnTo>
                  <a:pt x="395021" y="70714"/>
                </a:lnTo>
                <a:cubicBezTo>
                  <a:pt x="345440" y="87783"/>
                  <a:pt x="320650" y="123952"/>
                  <a:pt x="320650" y="179223"/>
                </a:cubicBezTo>
                <a:lnTo>
                  <a:pt x="395021" y="179223"/>
                </a:lnTo>
                <a:lnTo>
                  <a:pt x="395021" y="343815"/>
                </a:lnTo>
                <a:lnTo>
                  <a:pt x="242621" y="343815"/>
                </a:lnTo>
                <a:lnTo>
                  <a:pt x="242621" y="179223"/>
                </a:lnTo>
                <a:cubicBezTo>
                  <a:pt x="242621" y="135332"/>
                  <a:pt x="257658" y="96724"/>
                  <a:pt x="287731" y="63399"/>
                </a:cubicBezTo>
                <a:cubicBezTo>
                  <a:pt x="314554" y="34138"/>
                  <a:pt x="350317" y="13005"/>
                  <a:pt x="395021" y="0"/>
                </a:cubicBezTo>
                <a:close/>
                <a:moveTo>
                  <a:pt x="152400" y="0"/>
                </a:moveTo>
                <a:lnTo>
                  <a:pt x="152400" y="70714"/>
                </a:lnTo>
                <a:cubicBezTo>
                  <a:pt x="102819" y="87783"/>
                  <a:pt x="78029" y="123952"/>
                  <a:pt x="78029" y="179223"/>
                </a:cubicBezTo>
                <a:lnTo>
                  <a:pt x="152400" y="179223"/>
                </a:lnTo>
                <a:lnTo>
                  <a:pt x="152400" y="343815"/>
                </a:lnTo>
                <a:lnTo>
                  <a:pt x="0" y="343815"/>
                </a:lnTo>
                <a:lnTo>
                  <a:pt x="0" y="179223"/>
                </a:lnTo>
                <a:cubicBezTo>
                  <a:pt x="0" y="135332"/>
                  <a:pt x="15037" y="96724"/>
                  <a:pt x="45111" y="63399"/>
                </a:cubicBezTo>
                <a:cubicBezTo>
                  <a:pt x="71933" y="34138"/>
                  <a:pt x="107696" y="13005"/>
                  <a:pt x="152400" y="0"/>
                </a:cubicBezTo>
                <a:close/>
              </a:path>
            </a:pathLst>
          </a:custGeom>
          <a:solidFill>
            <a:srgbClr val="FFB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1E35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4"/>
          <p:cNvSpPr/>
          <p:nvPr/>
        </p:nvSpPr>
        <p:spPr>
          <a:xfrm>
            <a:off x="8522970" y="2565400"/>
            <a:ext cx="2990215" cy="2155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i="1" u="none" strike="noStrike" kern="1200" cap="none" spc="0" normalizeH="0" baseline="0" noProof="0" dirty="0">
                <a:ln>
                  <a:noFill/>
                </a:ln>
                <a:solidFill>
                  <a:srgbClr val="1E3595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The boxplot clearly shows that students with research experience (coded as 1) have higher average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d-ID" sz="1600" i="1" u="none" strike="noStrike" kern="1200" cap="none" spc="0" normalizeH="0" baseline="0" noProof="0" dirty="0">
                <a:ln>
                  <a:noFill/>
                </a:ln>
                <a:solidFill>
                  <a:srgbClr val="1E3595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chances. The t-test confirms this difference is statistically significant (𝑝 &lt; 0.001).</a:t>
            </a:r>
          </a:p>
        </p:txBody>
      </p:sp>
      <p:sp>
        <p:nvSpPr>
          <p:cNvPr id="12" name="Freeform 31"/>
          <p:cNvSpPr>
            <a:spLocks noChangeArrowheads="1"/>
          </p:cNvSpPr>
          <p:nvPr/>
        </p:nvSpPr>
        <p:spPr bwMode="auto">
          <a:xfrm>
            <a:off x="11189804" y="3865311"/>
            <a:ext cx="323525" cy="333156"/>
          </a:xfrm>
          <a:custGeom>
            <a:avLst/>
            <a:gdLst>
              <a:gd name="T0" fmla="*/ 142375 w 619"/>
              <a:gd name="T1" fmla="*/ 105984 h 634"/>
              <a:gd name="T2" fmla="*/ 142375 w 619"/>
              <a:gd name="T3" fmla="*/ 105984 h 634"/>
              <a:gd name="T4" fmla="*/ 89657 w 619"/>
              <a:gd name="T5" fmla="*/ 52992 h 634"/>
              <a:gd name="T6" fmla="*/ 79257 w 619"/>
              <a:gd name="T7" fmla="*/ 52992 h 634"/>
              <a:gd name="T8" fmla="*/ 79257 w 619"/>
              <a:gd name="T9" fmla="*/ 63446 h 634"/>
              <a:gd name="T10" fmla="*/ 126596 w 619"/>
              <a:gd name="T11" fmla="*/ 111392 h 634"/>
              <a:gd name="T12" fmla="*/ 79257 w 619"/>
              <a:gd name="T13" fmla="*/ 164384 h 634"/>
              <a:gd name="T14" fmla="*/ 79257 w 619"/>
              <a:gd name="T15" fmla="*/ 174838 h 634"/>
              <a:gd name="T16" fmla="*/ 89657 w 619"/>
              <a:gd name="T17" fmla="*/ 174838 h 634"/>
              <a:gd name="T18" fmla="*/ 142375 w 619"/>
              <a:gd name="T19" fmla="*/ 121846 h 634"/>
              <a:gd name="T20" fmla="*/ 142375 w 619"/>
              <a:gd name="T21" fmla="*/ 111392 h 634"/>
              <a:gd name="T22" fmla="*/ 142375 w 619"/>
              <a:gd name="T23" fmla="*/ 105984 h 634"/>
              <a:gd name="T24" fmla="*/ 110816 w 619"/>
              <a:gd name="T25" fmla="*/ 0 h 634"/>
              <a:gd name="T26" fmla="*/ 110816 w 619"/>
              <a:gd name="T27" fmla="*/ 0 h 634"/>
              <a:gd name="T28" fmla="*/ 0 w 619"/>
              <a:gd name="T29" fmla="*/ 111392 h 634"/>
              <a:gd name="T30" fmla="*/ 110816 w 619"/>
              <a:gd name="T31" fmla="*/ 228191 h 634"/>
              <a:gd name="T32" fmla="*/ 221632 w 619"/>
              <a:gd name="T33" fmla="*/ 111392 h 634"/>
              <a:gd name="T34" fmla="*/ 110816 w 619"/>
              <a:gd name="T35" fmla="*/ 0 h 634"/>
              <a:gd name="T36" fmla="*/ 110816 w 619"/>
              <a:gd name="T37" fmla="*/ 212329 h 634"/>
              <a:gd name="T38" fmla="*/ 110816 w 619"/>
              <a:gd name="T39" fmla="*/ 212329 h 634"/>
              <a:gd name="T40" fmla="*/ 10400 w 619"/>
              <a:gd name="T41" fmla="*/ 111392 h 634"/>
              <a:gd name="T42" fmla="*/ 110816 w 619"/>
              <a:gd name="T43" fmla="*/ 15862 h 634"/>
              <a:gd name="T44" fmla="*/ 211232 w 619"/>
              <a:gd name="T45" fmla="*/ 111392 h 634"/>
              <a:gd name="T46" fmla="*/ 110816 w 619"/>
              <a:gd name="T47" fmla="*/ 212329 h 63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619" h="634">
                <a:moveTo>
                  <a:pt x="397" y="294"/>
                </a:moveTo>
                <a:lnTo>
                  <a:pt x="397" y="294"/>
                </a:lnTo>
                <a:cubicBezTo>
                  <a:pt x="250" y="147"/>
                  <a:pt x="250" y="147"/>
                  <a:pt x="250" y="147"/>
                </a:cubicBezTo>
                <a:cubicBezTo>
                  <a:pt x="235" y="132"/>
                  <a:pt x="221" y="132"/>
                  <a:pt x="221" y="147"/>
                </a:cubicBezTo>
                <a:cubicBezTo>
                  <a:pt x="206" y="147"/>
                  <a:pt x="206" y="162"/>
                  <a:pt x="221" y="176"/>
                </a:cubicBezTo>
                <a:cubicBezTo>
                  <a:pt x="353" y="309"/>
                  <a:pt x="353" y="309"/>
                  <a:pt x="353" y="309"/>
                </a:cubicBezTo>
                <a:cubicBezTo>
                  <a:pt x="221" y="456"/>
                  <a:pt x="221" y="456"/>
                  <a:pt x="221" y="456"/>
                </a:cubicBezTo>
                <a:cubicBezTo>
                  <a:pt x="206" y="456"/>
                  <a:pt x="206" y="471"/>
                  <a:pt x="221" y="485"/>
                </a:cubicBezTo>
                <a:cubicBezTo>
                  <a:pt x="221" y="485"/>
                  <a:pt x="235" y="485"/>
                  <a:pt x="250" y="485"/>
                </a:cubicBezTo>
                <a:cubicBezTo>
                  <a:pt x="397" y="338"/>
                  <a:pt x="397" y="338"/>
                  <a:pt x="397" y="338"/>
                </a:cubicBezTo>
                <a:cubicBezTo>
                  <a:pt x="397" y="324"/>
                  <a:pt x="397" y="324"/>
                  <a:pt x="397" y="309"/>
                </a:cubicBezTo>
                <a:lnTo>
                  <a:pt x="397" y="294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09"/>
                </a:cubicBezTo>
                <a:cubicBezTo>
                  <a:pt x="0" y="485"/>
                  <a:pt x="132" y="633"/>
                  <a:pt x="309" y="633"/>
                </a:cubicBezTo>
                <a:cubicBezTo>
                  <a:pt x="486" y="633"/>
                  <a:pt x="618" y="485"/>
                  <a:pt x="618" y="309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09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09"/>
                </a:cubicBezTo>
                <a:cubicBezTo>
                  <a:pt x="589" y="471"/>
                  <a:pt x="456" y="589"/>
                  <a:pt x="309" y="589"/>
                </a:cubicBezTo>
                <a:close/>
              </a:path>
            </a:pathLst>
          </a:custGeom>
          <a:solidFill>
            <a:srgbClr val="FFB806">
              <a:alpha val="6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E35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31"/>
          <p:cNvSpPr>
            <a:spLocks noChangeArrowheads="1"/>
          </p:cNvSpPr>
          <p:nvPr/>
        </p:nvSpPr>
        <p:spPr bwMode="auto">
          <a:xfrm flipH="1">
            <a:off x="678672" y="3865311"/>
            <a:ext cx="323525" cy="333156"/>
          </a:xfrm>
          <a:custGeom>
            <a:avLst/>
            <a:gdLst>
              <a:gd name="T0" fmla="*/ 142375 w 619"/>
              <a:gd name="T1" fmla="*/ 105984 h 634"/>
              <a:gd name="T2" fmla="*/ 142375 w 619"/>
              <a:gd name="T3" fmla="*/ 105984 h 634"/>
              <a:gd name="T4" fmla="*/ 89657 w 619"/>
              <a:gd name="T5" fmla="*/ 52992 h 634"/>
              <a:gd name="T6" fmla="*/ 79257 w 619"/>
              <a:gd name="T7" fmla="*/ 52992 h 634"/>
              <a:gd name="T8" fmla="*/ 79257 w 619"/>
              <a:gd name="T9" fmla="*/ 63446 h 634"/>
              <a:gd name="T10" fmla="*/ 126596 w 619"/>
              <a:gd name="T11" fmla="*/ 111392 h 634"/>
              <a:gd name="T12" fmla="*/ 79257 w 619"/>
              <a:gd name="T13" fmla="*/ 164384 h 634"/>
              <a:gd name="T14" fmla="*/ 79257 w 619"/>
              <a:gd name="T15" fmla="*/ 174838 h 634"/>
              <a:gd name="T16" fmla="*/ 89657 w 619"/>
              <a:gd name="T17" fmla="*/ 174838 h 634"/>
              <a:gd name="T18" fmla="*/ 142375 w 619"/>
              <a:gd name="T19" fmla="*/ 121846 h 634"/>
              <a:gd name="T20" fmla="*/ 142375 w 619"/>
              <a:gd name="T21" fmla="*/ 111392 h 634"/>
              <a:gd name="T22" fmla="*/ 142375 w 619"/>
              <a:gd name="T23" fmla="*/ 105984 h 634"/>
              <a:gd name="T24" fmla="*/ 110816 w 619"/>
              <a:gd name="T25" fmla="*/ 0 h 634"/>
              <a:gd name="T26" fmla="*/ 110816 w 619"/>
              <a:gd name="T27" fmla="*/ 0 h 634"/>
              <a:gd name="T28" fmla="*/ 0 w 619"/>
              <a:gd name="T29" fmla="*/ 111392 h 634"/>
              <a:gd name="T30" fmla="*/ 110816 w 619"/>
              <a:gd name="T31" fmla="*/ 228191 h 634"/>
              <a:gd name="T32" fmla="*/ 221632 w 619"/>
              <a:gd name="T33" fmla="*/ 111392 h 634"/>
              <a:gd name="T34" fmla="*/ 110816 w 619"/>
              <a:gd name="T35" fmla="*/ 0 h 634"/>
              <a:gd name="T36" fmla="*/ 110816 w 619"/>
              <a:gd name="T37" fmla="*/ 212329 h 634"/>
              <a:gd name="T38" fmla="*/ 110816 w 619"/>
              <a:gd name="T39" fmla="*/ 212329 h 634"/>
              <a:gd name="T40" fmla="*/ 10400 w 619"/>
              <a:gd name="T41" fmla="*/ 111392 h 634"/>
              <a:gd name="T42" fmla="*/ 110816 w 619"/>
              <a:gd name="T43" fmla="*/ 15862 h 634"/>
              <a:gd name="T44" fmla="*/ 211232 w 619"/>
              <a:gd name="T45" fmla="*/ 111392 h 634"/>
              <a:gd name="T46" fmla="*/ 110816 w 619"/>
              <a:gd name="T47" fmla="*/ 212329 h 63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619" h="634">
                <a:moveTo>
                  <a:pt x="397" y="294"/>
                </a:moveTo>
                <a:lnTo>
                  <a:pt x="397" y="294"/>
                </a:lnTo>
                <a:cubicBezTo>
                  <a:pt x="250" y="147"/>
                  <a:pt x="250" y="147"/>
                  <a:pt x="250" y="147"/>
                </a:cubicBezTo>
                <a:cubicBezTo>
                  <a:pt x="235" y="132"/>
                  <a:pt x="221" y="132"/>
                  <a:pt x="221" y="147"/>
                </a:cubicBezTo>
                <a:cubicBezTo>
                  <a:pt x="206" y="147"/>
                  <a:pt x="206" y="162"/>
                  <a:pt x="221" y="176"/>
                </a:cubicBezTo>
                <a:cubicBezTo>
                  <a:pt x="353" y="309"/>
                  <a:pt x="353" y="309"/>
                  <a:pt x="353" y="309"/>
                </a:cubicBezTo>
                <a:cubicBezTo>
                  <a:pt x="221" y="456"/>
                  <a:pt x="221" y="456"/>
                  <a:pt x="221" y="456"/>
                </a:cubicBezTo>
                <a:cubicBezTo>
                  <a:pt x="206" y="456"/>
                  <a:pt x="206" y="471"/>
                  <a:pt x="221" y="485"/>
                </a:cubicBezTo>
                <a:cubicBezTo>
                  <a:pt x="221" y="485"/>
                  <a:pt x="235" y="485"/>
                  <a:pt x="250" y="485"/>
                </a:cubicBezTo>
                <a:cubicBezTo>
                  <a:pt x="397" y="338"/>
                  <a:pt x="397" y="338"/>
                  <a:pt x="397" y="338"/>
                </a:cubicBezTo>
                <a:cubicBezTo>
                  <a:pt x="397" y="324"/>
                  <a:pt x="397" y="324"/>
                  <a:pt x="397" y="309"/>
                </a:cubicBezTo>
                <a:lnTo>
                  <a:pt x="397" y="294"/>
                </a:lnTo>
                <a:close/>
                <a:moveTo>
                  <a:pt x="309" y="0"/>
                </a:moveTo>
                <a:lnTo>
                  <a:pt x="309" y="0"/>
                </a:lnTo>
                <a:cubicBezTo>
                  <a:pt x="132" y="0"/>
                  <a:pt x="0" y="147"/>
                  <a:pt x="0" y="309"/>
                </a:cubicBezTo>
                <a:cubicBezTo>
                  <a:pt x="0" y="485"/>
                  <a:pt x="132" y="633"/>
                  <a:pt x="309" y="633"/>
                </a:cubicBezTo>
                <a:cubicBezTo>
                  <a:pt x="486" y="633"/>
                  <a:pt x="618" y="485"/>
                  <a:pt x="618" y="309"/>
                </a:cubicBezTo>
                <a:cubicBezTo>
                  <a:pt x="618" y="147"/>
                  <a:pt x="486" y="0"/>
                  <a:pt x="309" y="0"/>
                </a:cubicBezTo>
                <a:close/>
                <a:moveTo>
                  <a:pt x="309" y="589"/>
                </a:moveTo>
                <a:lnTo>
                  <a:pt x="309" y="589"/>
                </a:lnTo>
                <a:cubicBezTo>
                  <a:pt x="162" y="589"/>
                  <a:pt x="29" y="471"/>
                  <a:pt x="29" y="309"/>
                </a:cubicBezTo>
                <a:cubicBezTo>
                  <a:pt x="29" y="162"/>
                  <a:pt x="162" y="44"/>
                  <a:pt x="309" y="44"/>
                </a:cubicBezTo>
                <a:cubicBezTo>
                  <a:pt x="456" y="44"/>
                  <a:pt x="589" y="162"/>
                  <a:pt x="589" y="309"/>
                </a:cubicBezTo>
                <a:cubicBezTo>
                  <a:pt x="589" y="471"/>
                  <a:pt x="456" y="589"/>
                  <a:pt x="309" y="589"/>
                </a:cubicBezTo>
                <a:close/>
              </a:path>
            </a:pathLst>
          </a:custGeom>
          <a:solidFill>
            <a:srgbClr val="FFB806">
              <a:alpha val="6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E359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155" y="2055495"/>
            <a:ext cx="2229485" cy="2390775"/>
          </a:xfrm>
          <a:prstGeom prst="rect">
            <a:avLst/>
          </a:prstGeom>
        </p:spPr>
      </p:pic>
      <p:pic>
        <p:nvPicPr>
          <p:cNvPr id="2" name="图片 1" descr="截屏2025-06-17 14.16.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" y="2055495"/>
            <a:ext cx="5316855" cy="3742055"/>
          </a:xfrm>
          <a:prstGeom prst="rect">
            <a:avLst/>
          </a:prstGeom>
        </p:spPr>
      </p:pic>
      <p:pic>
        <p:nvPicPr>
          <p:cNvPr id="15" name="图片 14" descr="截屏2025-06-17 14.20.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495" y="4826635"/>
            <a:ext cx="6142990" cy="1516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8" grpId="0"/>
      <p:bldP spid="10" grpId="0" animBg="1"/>
      <p:bldP spid="11" grpId="0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202698" y="2152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Í</a:t>
            </a:r>
            <a:endParaRPr lang="zh-CN" altLang="en-US" dirty="0"/>
          </a:p>
        </p:txBody>
      </p:sp>
      <p:sp>
        <p:nvSpPr>
          <p:cNvPr id="16" name="圆角矩形 2"/>
          <p:cNvSpPr/>
          <p:nvPr/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/>
          <p:cNvSpPr/>
          <p:nvPr/>
        </p:nvSpPr>
        <p:spPr>
          <a:xfrm>
            <a:off x="1483569" y="490636"/>
            <a:ext cx="99372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sz="36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Modeling Results </a:t>
            </a:r>
            <a:r>
              <a:rPr lang="en-US" sz="36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&amp;</a:t>
            </a:r>
            <a:r>
              <a:rPr sz="3600" b="1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 Lasso Interpretation</a:t>
            </a:r>
          </a:p>
        </p:txBody>
      </p:sp>
      <p:pic>
        <p:nvPicPr>
          <p:cNvPr id="2" name="图片 1" descr="截屏2025-06-17 14.21.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615" y="1980565"/>
            <a:ext cx="5632450" cy="3573780"/>
          </a:xfrm>
          <a:prstGeom prst="rect">
            <a:avLst/>
          </a:prstGeom>
        </p:spPr>
      </p:pic>
      <p:pic>
        <p:nvPicPr>
          <p:cNvPr id="4" name="图片 3" descr="截屏2025-06-17 14.27.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" y="1304925"/>
            <a:ext cx="11849100" cy="508000"/>
          </a:xfrm>
          <a:prstGeom prst="rect">
            <a:avLst/>
          </a:prstGeom>
        </p:spPr>
      </p:pic>
      <p:pic>
        <p:nvPicPr>
          <p:cNvPr id="6" name="图片 5" descr="截屏2025-06-17 14.29.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530" y="1980565"/>
            <a:ext cx="3860800" cy="1054100"/>
          </a:xfrm>
          <a:prstGeom prst="rect">
            <a:avLst/>
          </a:prstGeom>
        </p:spPr>
      </p:pic>
      <p:pic>
        <p:nvPicPr>
          <p:cNvPr id="8" name="图片 7" descr="截屏2025-06-17 14.30.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10" y="5721985"/>
            <a:ext cx="11049000" cy="444500"/>
          </a:xfrm>
          <a:prstGeom prst="rect">
            <a:avLst/>
          </a:prstGeom>
        </p:spPr>
      </p:pic>
      <p:pic>
        <p:nvPicPr>
          <p:cNvPr id="9" name="图片 8" descr="截屏2025-06-17 14.30.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037" y="3034665"/>
            <a:ext cx="4750435" cy="2351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02698" y="215231"/>
            <a:ext cx="11749182" cy="64021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0" t="18139"/>
          <a:stretch>
            <a:fillRect/>
          </a:stretch>
        </p:blipFill>
        <p:spPr>
          <a:xfrm>
            <a:off x="6612860" y="1397042"/>
            <a:ext cx="6380420" cy="601493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399607" y="-669852"/>
            <a:ext cx="552893" cy="1339703"/>
          </a:xfrm>
          <a:prstGeom prst="roundRect">
            <a:avLst>
              <a:gd name="adj" fmla="val 50000"/>
            </a:avLst>
          </a:prstGeom>
          <a:solidFill>
            <a:srgbClr val="1E35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Text Placeholder 4"/>
          <p:cNvSpPr txBox="1"/>
          <p:nvPr/>
        </p:nvSpPr>
        <p:spPr>
          <a:xfrm flipH="1">
            <a:off x="612775" y="1828800"/>
            <a:ext cx="6214745" cy="43040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To conclude:</a:t>
            </a:r>
          </a:p>
          <a:p>
            <a:pPr marR="0" lvl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CGPA, GRE, TOEFL show the strongest correlation with admission chances.</a:t>
            </a:r>
          </a:p>
          <a:p>
            <a:pPr marR="0" lvl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Admission probability can be accurately predicted using linear regression.</a:t>
            </a:r>
          </a:p>
          <a:p>
            <a:pPr marR="0" lvl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Research experience has a significant impact, supported by statistical testing.</a:t>
            </a:r>
          </a:p>
          <a:p>
            <a:pPr marR="0" lvl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The model generalizes well and can serve as a reference for students planning to apply.</a:t>
            </a:r>
          </a:p>
          <a:p>
            <a:pPr marR="0" lvl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Though useful, the dataset doesn't include discipline, ethnicity, or recommendation content, which limits its scope. Future work could extend the model with these richer features.</a:t>
            </a:r>
          </a:p>
        </p:txBody>
      </p:sp>
      <p:sp>
        <p:nvSpPr>
          <p:cNvPr id="71" name="Rectangle 17"/>
          <p:cNvSpPr/>
          <p:nvPr/>
        </p:nvSpPr>
        <p:spPr>
          <a:xfrm>
            <a:off x="939072" y="505308"/>
            <a:ext cx="469525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6600" dirty="0">
                <a:solidFill>
                  <a:srgbClr val="1E3595"/>
                </a:solidFill>
                <a:latin typeface="汉仪晓波折纸体简" panose="00020600040101010101" pitchFamily="18" charset="-122"/>
                <a:ea typeface="汉仪晓波折纸体简" panose="00020600040101010101" pitchFamily="18" charset="-122"/>
                <a:cs typeface="Segoe UI" panose="020B0502040204020203" pitchFamily="34" charset="0"/>
              </a:rPr>
              <a:t>THANKS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1E3595"/>
              </a:solidFill>
              <a:effectLst/>
              <a:uLnTx/>
              <a:uFillTx/>
              <a:latin typeface="汉仪晓波折纸体简" panose="00020600040101010101" pitchFamily="18" charset="-122"/>
              <a:ea typeface="汉仪晓波折纸体简" panose="00020600040101010101" pitchFamily="18" charset="-122"/>
              <a:cs typeface="Segoe UI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自定义 5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C000"/>
      </a:accent1>
      <a:accent2>
        <a:srgbClr val="2F2FE9"/>
      </a:accent2>
      <a:accent3>
        <a:srgbClr val="F7AD19"/>
      </a:accent3>
      <a:accent4>
        <a:srgbClr val="F6AF2E"/>
      </a:accent4>
      <a:accent5>
        <a:srgbClr val="2F2FE9"/>
      </a:accent5>
      <a:accent6>
        <a:srgbClr val="F7AD19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356</Words>
  <Application>Microsoft Macintosh PowerPoint</Application>
  <PresentationFormat>宽屏</PresentationFormat>
  <Paragraphs>44</Paragraphs>
  <Slides>7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等线</vt:lpstr>
      <vt:lpstr>汉仪晓波折纸体简</vt:lpstr>
      <vt:lpstr>Nexa Bold</vt:lpstr>
      <vt:lpstr>Arial</vt:lpstr>
      <vt:lpstr>Calibri</vt:lpstr>
      <vt:lpstr>Calibri Light</vt:lpstr>
      <vt:lpstr>Montserrat Light</vt:lpstr>
      <vt:lpstr>Segoe UI</vt:lpstr>
      <vt:lpstr>Segoe UI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Sihan Chen</cp:lastModifiedBy>
  <cp:revision>6</cp:revision>
  <dcterms:created xsi:type="dcterms:W3CDTF">2025-06-17T06:34:26Z</dcterms:created>
  <dcterms:modified xsi:type="dcterms:W3CDTF">2025-06-17T06:40:52Z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F5EAB38B9EC95391710C51680D3B1F13_43</vt:lpwstr>
  </property>
</Properties>
</file>